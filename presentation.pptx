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Calibri"/>
              </a:rPr>
              <a:t>ExoNet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333333"/>
                </a:solidFill>
                <a:latin typeface="Calibri"/>
              </a:rPr>
              <a:t>Classifying Kepler exoplanet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27085"/>
            <a:ext cx="441685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333333"/>
                </a:solidFill>
                <a:latin typeface="Calibri"/>
              </a:rPr>
              <a:t>Adedokun</a:t>
            </a:r>
            <a:r>
              <a:rPr lang="en-US" dirty="0">
                <a:solidFill>
                  <a:srgbClr val="333333"/>
                </a:solidFill>
                <a:latin typeface="Calibri"/>
              </a:rPr>
              <a:t> Owoyomi </a:t>
            </a:r>
            <a:endParaRPr sz="1800" b="0" dirty="0">
              <a:solidFill>
                <a:srgbClr val="333333"/>
              </a:solidFill>
              <a:latin typeface="Calibri"/>
            </a:endParaRPr>
          </a:p>
          <a:p>
            <a:r>
              <a:rPr sz="1800" b="0" dirty="0">
                <a:solidFill>
                  <a:srgbClr val="333333"/>
                </a:solidFill>
                <a:latin typeface="Calibri"/>
              </a:rPr>
              <a:t>ITAI 2372 Final Project, Implementation Track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May </a:t>
            </a:r>
            <a:r>
              <a:rPr sz="1800" b="0" dirty="0">
                <a:solidFill>
                  <a:srgbClr val="333333"/>
                </a:solidFill>
                <a:latin typeface="Calibr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295786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Calibri"/>
              </a:rPr>
              <a:t>Kepler watched 150,000+ stars looking for transits.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It produced thousands of transit-like signals.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Each one needs to be vetted by hand: real planet, instrument noise, or eclipsing binary?</a:t>
            </a:r>
          </a:p>
          <a:p>
            <a:endParaRPr sz="2000" b="0">
              <a:solidFill>
                <a:srgbClr val="1A1A1A"/>
              </a:solidFill>
              <a:latin typeface="Calibri"/>
            </a:endParaRPr>
          </a:p>
          <a:p>
            <a:r>
              <a:rPr sz="2000" b="1">
                <a:solidFill>
                  <a:srgbClr val="1A1A1A"/>
                </a:solidFill>
                <a:latin typeface="Calibri"/>
              </a:rPr>
              <a:t>Vetting is slow expert work.</a:t>
            </a:r>
          </a:p>
          <a:p>
            <a:r>
              <a:rPr sz="2000" b="1">
                <a:solidFill>
                  <a:srgbClr val="1A1A1A"/>
                </a:solidFill>
                <a:latin typeface="Calibri"/>
              </a:rPr>
              <a:t>TESS keeps adding more candidates to the queue.</a:t>
            </a:r>
          </a:p>
          <a:p>
            <a:endParaRPr sz="2000" b="1">
              <a:solidFill>
                <a:srgbClr val="1A1A1A"/>
              </a:solidFill>
              <a:latin typeface="Calibri"/>
            </a:endParaRPr>
          </a:p>
          <a:p>
            <a:r>
              <a:rPr sz="2200" b="0">
                <a:solidFill>
                  <a:srgbClr val="333333"/>
                </a:solidFill>
                <a:latin typeface="Calibri"/>
              </a:rPr>
              <a:t>Question: can a small ML model do a good first-pass triage?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8712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A supervised classifier: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Input: 10 features per candidate (orbit, planet, host star).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Output: CONFIRMED or FALSE POSITIVE, with a probability.</a:t>
            </a:r>
          </a:p>
          <a:p>
            <a:endParaRPr sz="2000" b="0">
              <a:solidFill>
                <a:srgbClr val="1A1A1A"/>
              </a:solidFill>
              <a:latin typeface="Calibri"/>
            </a:endParaRPr>
          </a:p>
          <a:p>
            <a:r>
              <a:rPr sz="2200" b="1">
                <a:solidFill>
                  <a:srgbClr val="1A1A1A"/>
                </a:solidFill>
                <a:latin typeface="Calibri"/>
              </a:rPr>
              <a:t>Delivered as a small Python CLI: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- python -m src.main train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- python -m src.main predict --koi-period ... (etc)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-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8712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Adedokun </a:t>
            </a:r>
            <a:r>
              <a:rPr sz="1000" dirty="0">
                <a:solidFill>
                  <a:srgbClr val="666666"/>
                </a:solidFill>
                <a:latin typeface="Calibri"/>
              </a:rPr>
              <a:t>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Calibri"/>
              </a:rPr>
              <a:t>Source: NASA Exoplanet Archive, Kepler KOI cumulative table.</a:t>
            </a:r>
          </a:p>
          <a:p>
            <a:endParaRPr sz="2000" b="0">
              <a:solidFill>
                <a:srgbClr val="1A1A1A"/>
              </a:solidFill>
              <a:latin typeface="Calibri"/>
            </a:endParaRP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Initial size: about 9,500 KOIs.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After dropping CANDIDATE rows (label undecided): ~7,500 rows.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Roughly balanced between CONFIRMED and FALSE POSITIVE.</a:t>
            </a:r>
          </a:p>
          <a:p>
            <a:endParaRPr sz="2000" b="0">
              <a:solidFill>
                <a:srgbClr val="1A1A1A"/>
              </a:solidFill>
              <a:latin typeface="Calibri"/>
            </a:endParaRPr>
          </a:p>
          <a:p>
            <a:r>
              <a:rPr sz="1800" b="0">
                <a:solidFill>
                  <a:srgbClr val="333333"/>
                </a:solidFill>
                <a:latin typeface="Calibri"/>
              </a:rPr>
              <a:t>Cached locally on first download.</a:t>
            </a:r>
          </a:p>
          <a:p>
            <a:r>
              <a:rPr sz="1800" b="0">
                <a:solidFill>
                  <a:srgbClr val="333333"/>
                </a:solidFill>
                <a:latin typeface="Calibri"/>
              </a:rPr>
              <a:t>Synthetic-data fallback if the archive is unreachable.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8712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Adedokun </a:t>
            </a:r>
            <a:r>
              <a:rPr sz="1000" dirty="0">
                <a:solidFill>
                  <a:srgbClr val="666666"/>
                </a:solidFill>
                <a:latin typeface="Calibri"/>
              </a:rPr>
              <a:t>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The 10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Orbit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- koi_period (days),  koi_duration (hr),  koi_depth (ppm)</a:t>
            </a:r>
          </a:p>
          <a:p>
            <a:endParaRPr sz="1800" b="0">
              <a:solidFill>
                <a:srgbClr val="1A1A1A"/>
              </a:solidFill>
              <a:latin typeface="Calibri"/>
            </a:endParaRPr>
          </a:p>
          <a:p>
            <a:r>
              <a:rPr sz="2200" b="1">
                <a:solidFill>
                  <a:srgbClr val="1A1A1A"/>
                </a:solidFill>
                <a:latin typeface="Calibri"/>
              </a:rPr>
              <a:t>Candidate planet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- koi_prad (Earth radii),  koi_teq (K),  koi_insol (Earth flux),  koi_model_snr</a:t>
            </a:r>
          </a:p>
          <a:p>
            <a:endParaRPr sz="1800" b="0">
              <a:solidFill>
                <a:srgbClr val="1A1A1A"/>
              </a:solidFill>
              <a:latin typeface="Calibri"/>
            </a:endParaRPr>
          </a:p>
          <a:p>
            <a:r>
              <a:rPr sz="2200" b="1">
                <a:solidFill>
                  <a:srgbClr val="1A1A1A"/>
                </a:solidFill>
                <a:latin typeface="Calibri"/>
              </a:rPr>
              <a:t>Host star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- koi_steff (K),  koi_slogg (log g),  koi_srad (solar radii)</a:t>
            </a:r>
          </a:p>
          <a:p>
            <a:endParaRPr sz="1800" b="0">
              <a:solidFill>
                <a:srgbClr val="1A1A1A"/>
              </a:solidFill>
              <a:latin typeface="Calibri"/>
            </a:endParaRPr>
          </a:p>
          <a:p>
            <a:r>
              <a:rPr sz="1600" b="0">
                <a:solidFill>
                  <a:srgbClr val="333333"/>
                </a:solidFill>
                <a:latin typeface="Calibri"/>
              </a:rPr>
              <a:t>Picked these because (1) they are dense in the dataset and (2) they map to what astronomers actually look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0444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Calibri"/>
              </a:rPr>
              <a:t>1.  Load CSV from NASA archive (or cached copy).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2.  Coerce features to numeric, drop empty rows, median-impute NaNs.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3.  Drop CANDIDATE rows.  Map labels to 0 / 1.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4.  Stratified 80 / 20 train / test split (seed = 42).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5.  Fit RandomForestClassifier (300 trees, balanced weights).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6.  Score on test set, save model + metrics + confusion 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8712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Why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Calibri"/>
              </a:rPr>
              <a:t>Considered a small neural net first.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Decided against it because:</a:t>
            </a:r>
          </a:p>
          <a:p>
            <a:endParaRPr sz="2000" b="0">
              <a:solidFill>
                <a:srgbClr val="1A1A1A"/>
              </a:solidFill>
              <a:latin typeface="Calibri"/>
            </a:endParaRP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Dataset is small (~7,500 rows) and tabular.  Trees usually win at this scale.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Random Forest does not need feature scaling.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Gives feature importances I can talk about (coming up next).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Way easier to defend in a presentation.</a:t>
            </a:r>
          </a:p>
          <a:p>
            <a:endParaRPr sz="2000" b="0">
              <a:solidFill>
                <a:srgbClr val="1A1A1A"/>
              </a:solidFill>
              <a:latin typeface="Calibri"/>
            </a:endParaRPr>
          </a:p>
          <a:p>
            <a:r>
              <a:rPr sz="1800" b="0">
                <a:solidFill>
                  <a:srgbClr val="333333"/>
                </a:solidFill>
                <a:latin typeface="Calibri"/>
              </a:rPr>
              <a:t>Future work: try XGBoost on the same split as a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01556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Results on real Kepler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Test set size: 1,518 rows</a:t>
            </a:r>
          </a:p>
          <a:p>
            <a:endParaRPr sz="2200" b="1">
              <a:solidFill>
                <a:srgbClr val="1A1A1A"/>
              </a:solidFill>
              <a:latin typeface="Calibri"/>
            </a:endParaRP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Accuracy     0.926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Precision    0.883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Recall       0.918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F1           0.900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ROC-AUC      0.976</a:t>
            </a:r>
          </a:p>
          <a:p>
            <a:endParaRPr sz="2200" b="0">
              <a:solidFill>
                <a:srgbClr val="1A1A1A"/>
              </a:solidFill>
              <a:latin typeface="Calibri"/>
            </a:endParaRPr>
          </a:p>
          <a:p>
            <a:r>
              <a:rPr sz="1800" b="0">
                <a:solidFill>
                  <a:srgbClr val="333333"/>
                </a:solidFill>
                <a:latin typeface="Calibri"/>
              </a:rPr>
              <a:t>Beat the success criteria from the proposal (&gt;=0.85 acc, &gt;=0.92 ROC-AUC).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1021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  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Calibri"/>
              </a:rPr>
              <a:t>Most errors are false positives flagged as confirmed (67 cases).</a:t>
            </a:r>
          </a:p>
          <a:p>
            <a:endParaRPr sz="1400" b="0">
              <a:solidFill>
                <a:srgbClr val="333333"/>
              </a:solidFill>
              <a:latin typeface="Calibri"/>
            </a:endParaRPr>
          </a:p>
          <a:p>
            <a:r>
              <a:rPr sz="1400" b="0">
                <a:solidFill>
                  <a:srgbClr val="333333"/>
                </a:solidFill>
                <a:latin typeface="Calibri"/>
              </a:rPr>
              <a:t>Could lower the decision threshold if precision matters more than recall for the use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0444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Top features by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Calibri"/>
              </a:rPr>
              <a:t>1.  koi_prad         (planetary radius)         0.231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2.  koi_model_snr    (transit signal-to-noise)  0.149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3.  koi_period      (orbital period)          0.128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4.  koi_depth       (transit depth, ppm)       0.101</a:t>
            </a:r>
          </a:p>
          <a:p>
            <a:r>
              <a:rPr sz="2200" b="0">
                <a:solidFill>
                  <a:srgbClr val="1A1A1A"/>
                </a:solidFill>
                <a:latin typeface="Calibri"/>
              </a:rPr>
              <a:t>5.  koi_insol       (insolation flux)          0.097</a:t>
            </a:r>
          </a:p>
          <a:p>
            <a:endParaRPr sz="2200" b="0">
              <a:solidFill>
                <a:srgbClr val="1A1A1A"/>
              </a:solidFill>
              <a:latin typeface="Calibri"/>
            </a:endParaRPr>
          </a:p>
          <a:p>
            <a:r>
              <a:rPr sz="1600" b="0">
                <a:solidFill>
                  <a:srgbClr val="333333"/>
                </a:solidFill>
                <a:latin typeface="Calibri"/>
              </a:rPr>
              <a:t>These line up with what astronomers actually look at when triaging candidates by hand. That is a sanity check that the model has learned something reasonable, not a shortcut.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1678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705" y="19202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What this project does not do (yet):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Only a single train/test split.  K-fold CV would give better confidence intervals.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Only a Random Forest baseline.  Worth comparing to XGBoost or LightGBM.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Trained only on Kepler data.  TESS uses similar features and would be the obvious next dataset.</a:t>
            </a:r>
          </a:p>
          <a:p>
            <a:r>
              <a:rPr sz="2000" b="0">
                <a:solidFill>
                  <a:srgbClr val="1A1A1A"/>
                </a:solidFill>
                <a:latin typeface="Calibri"/>
              </a:rPr>
              <a:t>- No web UI or hosted demo.  Just a CLI for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02358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377440"/>
            <a:ext cx="282013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dirty="0">
                <a:solidFill>
                  <a:srgbClr val="1A1A1A"/>
                </a:solidFill>
                <a:latin typeface="Calibri"/>
              </a:rPr>
              <a:t>Thank</a:t>
            </a:r>
            <a:r>
              <a:rPr lang="en-US" sz="4800" b="1" dirty="0">
                <a:solidFill>
                  <a:srgbClr val="1A1A1A"/>
                </a:solidFill>
                <a:latin typeface="Calibri"/>
              </a:rPr>
              <a:t> You</a:t>
            </a:r>
            <a:endParaRPr sz="48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635609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dirty="0">
                <a:solidFill>
                  <a:srgbClr val="333333"/>
                </a:solidFill>
                <a:latin typeface="Calibri"/>
              </a:rPr>
              <a:t>Repo: </a:t>
            </a:r>
            <a:r>
              <a:rPr sz="2000" b="0" dirty="0" err="1">
                <a:solidFill>
                  <a:srgbClr val="333333"/>
                </a:solidFill>
                <a:latin typeface="Calibri"/>
              </a:rPr>
              <a:t>FP_GROUP0</a:t>
            </a:r>
            <a:r>
              <a:rPr lang="en-US" sz="2000" b="0" dirty="0" err="1">
                <a:solidFill>
                  <a:srgbClr val="333333"/>
                </a:solidFill>
                <a:latin typeface="Calibri"/>
              </a:rPr>
              <a:t>4_</a:t>
            </a:r>
            <a:r>
              <a:rPr lang="en-US" sz="2000" dirty="0" err="1">
                <a:solidFill>
                  <a:srgbClr val="333333"/>
                </a:solidFill>
                <a:latin typeface="Calibri"/>
              </a:rPr>
              <a:t>ADEDOKUN</a:t>
            </a:r>
            <a:r>
              <a:rPr lang="en-US" sz="2000" dirty="0">
                <a:solidFill>
                  <a:srgbClr val="333333"/>
                </a:solidFill>
                <a:latin typeface="Calibri"/>
              </a:rPr>
              <a:t> OWOYOMI </a:t>
            </a:r>
            <a:r>
              <a:rPr sz="2000" b="0" dirty="0">
                <a:solidFill>
                  <a:srgbClr val="333333"/>
                </a:solidFill>
                <a:latin typeface="Calibri"/>
              </a:rPr>
              <a:t>_ITAI2372</a:t>
            </a:r>
          </a:p>
          <a:p>
            <a:r>
              <a:rPr sz="2000" b="0" dirty="0">
                <a:solidFill>
                  <a:srgbClr val="333333"/>
                </a:solidFill>
                <a:latin typeface="Calibri"/>
              </a:rPr>
              <a:t>Run it: python -m src.main train</a:t>
            </a:r>
          </a:p>
          <a:p>
            <a:r>
              <a:rPr sz="2000" b="0" dirty="0">
                <a:solidFill>
                  <a:srgbClr val="333333"/>
                </a:solidFill>
                <a:latin typeface="Calibri"/>
              </a:rPr>
              <a:t>Data:  NASA Exoplanet Archive, Kepler KOI cumulative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1678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666666"/>
                </a:solidFill>
                <a:latin typeface="Calibri"/>
              </a:rPr>
              <a:t>ExoNet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-  ITAI 2372 Final Project  -  </a:t>
            </a:r>
            <a:r>
              <a:rPr lang="en-US" sz="1000" dirty="0" err="1">
                <a:solidFill>
                  <a:srgbClr val="666666"/>
                </a:solidFill>
                <a:latin typeface="Calibri"/>
              </a:rPr>
              <a:t>Adedokun</a:t>
            </a:r>
            <a:r>
              <a:rPr sz="1000" dirty="0">
                <a:solidFill>
                  <a:srgbClr val="666666"/>
                </a:solidFill>
                <a:latin typeface="Calibri"/>
              </a:rPr>
              <a:t>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adedokun.owoyomi-W211530769</cp:lastModifiedBy>
  <cp:revision>2</cp:revision>
  <dcterms:created xsi:type="dcterms:W3CDTF">2013-01-27T09:14:16Z</dcterms:created>
  <dcterms:modified xsi:type="dcterms:W3CDTF">2026-05-09T00:15:51Z</dcterms:modified>
  <cp:category/>
</cp:coreProperties>
</file>